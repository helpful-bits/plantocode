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5FB1BE"/>
                </a:solidFill>
                <a:latin typeface="SF Pro Display"/>
              </a:defRPr>
            </a:pPr>
            <a:r>
              <a:t>INTELLIGENT CODE SCOPE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5E5E5"/>
                </a:solidFill>
                <a:latin typeface="SF Pro Display"/>
              </a:defRPr>
            </a:pPr>
            <a:r>
              <a:t>Vibe Manager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114800"/>
            <a:ext cx="4572000" cy="10972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D1D1D1"/>
                </a:solidFill>
                <a:latin typeface="SF Pro Display"/>
              </a:defRPr>
            </a:pPr>
            <a:r>
              <a:t>1,500 files → 50 files → Production code</a:t>
            </a:r>
          </a:p>
          <a:p>
            <a:pPr algn="ctr">
              <a:spcBef>
                <a:spcPts val="800"/>
              </a:spcBef>
              <a:defRPr sz="3200" b="1">
                <a:solidFill>
                  <a:srgbClr val="5FB1BE"/>
                </a:solidFill>
                <a:latin typeface="SF Pro Display"/>
              </a:defRPr>
            </a:pPr>
            <a:r>
              <a:t>In 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The Developer's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Working with large-scale codebases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4114800" cy="16459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Large Codebases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>
                <a:solidFill>
                  <a:srgbClr val="D1D1D1"/>
                </a:solidFill>
                <a:latin typeface="SF Pro Display"/>
              </a:defRPr>
            </a:pPr>
            <a:r>
              <a:t>Navigating 1,500+ files</a:t>
            </a:r>
            <a:br/>
            <a:r>
              <a:t>without clear direction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2011680"/>
            <a:ext cx="4114800" cy="16459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Time Intensive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>
                <a:solidFill>
                  <a:srgbClr val="D1D1D1"/>
                </a:solidFill>
                <a:latin typeface="SF Pro Display"/>
              </a:defRPr>
            </a:pPr>
            <a:r>
              <a:t>Hours spent finding</a:t>
            </a:r>
            <a:br/>
            <a:r>
              <a:t>relevant code manually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4114800" cy="16459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Context Overload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>
                <a:solidFill>
                  <a:srgbClr val="D1D1D1"/>
                </a:solidFill>
                <a:latin typeface="SF Pro Display"/>
              </a:defRPr>
            </a:pPr>
            <a:r>
              <a:t>AI assistants overwhelmed</a:t>
            </a:r>
            <a:br/>
            <a:r>
              <a:t>by too much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4114800"/>
            <a:ext cx="4114800" cy="16459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Error Prone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>
                <a:solidFill>
                  <a:srgbClr val="D1D1D1"/>
                </a:solidFill>
                <a:latin typeface="SF Pro Display"/>
              </a:defRPr>
            </a:pPr>
            <a:r>
              <a:t>Manual selection leads to</a:t>
            </a:r>
            <a:br/>
            <a:r>
              <a:t>missing critical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Intelligent Scope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From thousands to only what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9E9E9E"/>
                </a:solidFill>
                <a:latin typeface="SF Pro Display"/>
              </a:defRPr>
            </a:pPr>
            <a:r>
              <a:t>1,500+</a:t>
            </a:r>
          </a:p>
          <a:p>
            <a:pPr algn="ctr">
              <a:spcBef>
                <a:spcPts val="12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files in codebase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0"/>
            <a:ext cx="2194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>
                <a:solidFill>
                  <a:srgbClr val="5FB1BE"/>
                </a:solidFill>
                <a:latin typeface="SF Pro Display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38404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FB1BE"/>
                </a:solidFill>
                <a:latin typeface="SF Pro Display"/>
              </a:defRPr>
            </a:pPr>
            <a:r>
              <a:t>AI-Powered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5FB1BE"/>
                </a:solidFill>
                <a:latin typeface="SF Pro Display"/>
              </a:defRPr>
            </a:pPr>
            <a:r>
              <a:t>50</a:t>
            </a:r>
          </a:p>
          <a:p>
            <a:pPr algn="ctr"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relevant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502920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55846A"/>
                </a:solidFill>
                <a:latin typeface="SF Pro Display"/>
              </a:defRPr>
            </a:pPr>
            <a:r>
              <a:t>96.7% reduction in scope | 100%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Parallel File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Multiple AI agents searching simultaneously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 sz="2000" b="1">
                <a:solidFill>
                  <a:srgbClr val="E5E5E5"/>
                </a:solidFill>
                <a:latin typeface="SF Pro Display"/>
              </a:defRPr>
            </a:pPr>
            <a:r>
              <a:t>Codebase</a:t>
            </a:r>
            <a:br/>
            <a:r>
              <a:t>Analysis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43200" y="1828800"/>
            <a:ext cx="164592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>
                <a:solidFill>
                  <a:srgbClr val="E5E5E5"/>
                </a:solidFill>
                <a:latin typeface="SF Pro Display"/>
              </a:defRPr>
            </a:pPr>
            <a:r>
              <a:t>Semantic Search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2651760"/>
            <a:ext cx="164592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265176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>
                <a:solidFill>
                  <a:srgbClr val="E5E5E5"/>
                </a:solidFill>
                <a:latin typeface="SF Pro Display"/>
              </a:defRPr>
            </a:pPr>
            <a:r>
              <a:t>Pattern Matching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43200" y="3474720"/>
            <a:ext cx="164592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347472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>
                <a:solidFill>
                  <a:srgbClr val="E5E5E5"/>
                </a:solidFill>
                <a:latin typeface="SF Pro Display"/>
              </a:defRPr>
            </a:pPr>
            <a:r>
              <a:t>Dependency Analysis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43200" y="4297680"/>
            <a:ext cx="164592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429768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>
                <a:solidFill>
                  <a:srgbClr val="E5E5E5"/>
                </a:solidFill>
                <a:latin typeface="SF Pro Display"/>
              </a:defRPr>
            </a:pPr>
            <a:r>
              <a:t>AST Traversal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212080"/>
            <a:ext cx="5029200" cy="7315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Converged Results: 50 High-Confidence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Precision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Quantifiable scope reduction and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9E9E9E"/>
                </a:solidFill>
                <a:latin typeface="SF Pro Display"/>
              </a:defRPr>
            </a:pPr>
            <a:r>
              <a:t>1,500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Original</a:t>
            </a:r>
            <a:br/>
            <a:r>
              <a:t>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0116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5FB1BE"/>
                </a:solidFill>
                <a:latin typeface="SF Pro Display"/>
              </a:defRPr>
            </a:pPr>
            <a:r>
              <a:t>50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Discovered</a:t>
            </a:r>
            <a:br/>
            <a:r>
              <a:t>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55846A"/>
                </a:solidFill>
                <a:latin typeface="SF Pro Display"/>
              </a:defRPr>
            </a:pPr>
            <a:r>
              <a:t>3.3%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Final</a:t>
            </a:r>
            <a:br/>
            <a:r>
              <a:t>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38404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628ABB"/>
                </a:solidFill>
                <a:latin typeface="SF Pro Display"/>
              </a:defRPr>
            </a:pPr>
            <a:r>
              <a:t>96%+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Accuracy</a:t>
            </a:r>
            <a:br/>
            <a:r>
              <a:t>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Human-in-the-Loop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Maintain control with manual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6400800" cy="32918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2600" b="1">
                <a:solidFill>
                  <a:srgbClr val="E5E5E5"/>
                </a:solidFill>
                <a:latin typeface="SF Pro Display"/>
              </a:defRPr>
            </a:pPr>
            <a:r>
              <a:t>Review and Adjust Discovered Files</a:t>
            </a:r>
          </a:p>
          <a:p>
            <a:pPr>
              <a:lnSpc>
                <a:spcPct val="130000"/>
              </a:lnSpc>
              <a:spcBef>
                <a:spcPts val="1600"/>
              </a:spcBef>
              <a:defRPr sz="2000">
                <a:solidFill>
                  <a:srgbClr val="D1D1D1"/>
                </a:solidFill>
                <a:latin typeface="SF Pro Display"/>
              </a:defRPr>
            </a:pPr>
            <a:r>
              <a:t>•  Remove irrelevant or redundant files</a:t>
            </a:r>
          </a:p>
          <a:p>
            <a:pPr>
              <a:lnSpc>
                <a:spcPct val="130000"/>
              </a:lnSpc>
              <a:spcBef>
                <a:spcPts val="1600"/>
              </a:spcBef>
              <a:defRPr sz="2000">
                <a:solidFill>
                  <a:srgbClr val="D1D1D1"/>
                </a:solidFill>
                <a:latin typeface="SF Pro Display"/>
              </a:defRPr>
            </a:pPr>
            <a:r>
              <a:t>•  Add additional context files manually</a:t>
            </a:r>
          </a:p>
          <a:p>
            <a:pPr>
              <a:lnSpc>
                <a:spcPct val="130000"/>
              </a:lnSpc>
              <a:spcBef>
                <a:spcPts val="1600"/>
              </a:spcBef>
              <a:defRPr sz="2000">
                <a:solidFill>
                  <a:srgbClr val="D1D1D1"/>
                </a:solidFill>
                <a:latin typeface="SF Pro Display"/>
              </a:defRPr>
            </a:pPr>
            <a:r>
              <a:t>•  Verify scope completeness before proceeding</a:t>
            </a:r>
          </a:p>
          <a:p>
            <a:pPr>
              <a:lnSpc>
                <a:spcPct val="130000"/>
              </a:lnSpc>
              <a:spcBef>
                <a:spcPts val="1600"/>
              </a:spcBef>
              <a:defRPr sz="2000">
                <a:solidFill>
                  <a:srgbClr val="D1D1D1"/>
                </a:solidFill>
                <a:latin typeface="SF Pro Display"/>
              </a:defRPr>
            </a:pPr>
            <a:r>
              <a:t>•  Adjust search parameters if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5486400"/>
            <a:ext cx="4572000" cy="640080"/>
          </a:xfrm>
          <a:prstGeom prst="roundRect">
            <a:avLst>
              <a:gd name="adj" fmla="val 8000"/>
            </a:avLst>
          </a:prstGeom>
          <a:solidFill>
            <a:srgbClr val="242B3A"/>
          </a:solidFill>
          <a:ln w="12700">
            <a:solidFill>
              <a:srgbClr val="628A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i="1">
                <a:solidFill>
                  <a:srgbClr val="628ABB"/>
                </a:solidFill>
                <a:latin typeface="SF Pro Display"/>
              </a:defRPr>
            </a:pPr>
            <a:r>
              <a:t>Ensures precision while maintaining automation benefits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XML-Structured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Optimized format for LLM 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400" b="1">
                <a:solidFill>
                  <a:srgbClr val="5FB1BE"/>
                </a:solidFill>
                <a:latin typeface="SF Pro Display"/>
              </a:defRPr>
            </a:pPr>
            <a:r>
              <a:t>Why XML?</a:t>
            </a:r>
          </a:p>
          <a:p>
            <a:pPr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•  Structured &amp; parseable</a:t>
            </a:r>
          </a:p>
          <a:p>
            <a:pPr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•  LLM-optimized format</a:t>
            </a:r>
          </a:p>
          <a:p>
            <a:pPr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•  Hierarchical context</a:t>
            </a:r>
          </a:p>
          <a:p>
            <a:pPr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•  Version traceable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8288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383E49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lnSpc>
                <a:spcPct val="140000"/>
              </a:lnSpc>
              <a:defRPr sz="1500">
                <a:solidFill>
                  <a:srgbClr val="5FB1BE"/>
                </a:solidFill>
                <a:latin typeface="Monaco"/>
              </a:defRPr>
            </a:pPr>
            <a:r>
              <a:t>&lt;context&gt;</a:t>
            </a:r>
            <a:br/>
            <a:r>
              <a:t>  &lt;task&gt;Feature X&lt;/task&gt;</a:t>
            </a:r>
            <a:br/>
            <a:r>
              <a:t>  &lt;files&gt;</a:t>
            </a:r>
            <a:br/>
            <a:r>
              <a:t>    &lt;file path="src/..."&gt;</a:t>
            </a:r>
            <a:br/>
            <a:r>
              <a:t>      &lt;!-- content --&gt;</a:t>
            </a:r>
            <a:br/>
            <a:r>
              <a:t>    &lt;/file&gt;</a:t>
            </a:r>
            <a:br/>
            <a:r>
              <a:t>  &lt;/files&gt;</a:t>
            </a:r>
            <a:br/>
            <a:r>
              <a:t>&lt;/context&gt;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5E5E5"/>
                </a:solidFill>
                <a:latin typeface="SF Pro Display"/>
              </a:defRPr>
            </a:pPr>
            <a:r>
              <a:t>Optimized for OpenAI GPT-4 and Claude 3.5 Sonnet</a:t>
            </a:r>
          </a:p>
          <a:p>
            <a:pPr algn="ctr">
              <a:spcBef>
                <a:spcPts val="600"/>
              </a:spcBef>
              <a:defRPr sz="1600">
                <a:solidFill>
                  <a:srgbClr val="9E9E9E"/>
                </a:solidFill>
                <a:latin typeface="SF Pro Display"/>
              </a:defRPr>
            </a:pPr>
            <a:r>
              <a:t>Regularly updated to leverage latest model capabilities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Triple Parallel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Three implementation strategies generated concurrently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 sz="2000" b="1">
                <a:solidFill>
                  <a:srgbClr val="E5E5E5"/>
                </a:solidFill>
                <a:latin typeface="SF Pro Display"/>
              </a:defRPr>
            </a:pPr>
            <a:r>
              <a:t>Verified</a:t>
            </a:r>
            <a:br/>
            <a:r>
              <a:t>Scope (50)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2011680"/>
            <a:ext cx="137160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20116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Implementation Plan A</a:t>
            </a:r>
          </a:p>
          <a:p>
            <a:pPr>
              <a:spcBef>
                <a:spcPts val="600"/>
              </a:spcBef>
              <a:defRPr sz="1600">
                <a:solidFill>
                  <a:srgbClr val="9E9E9E"/>
                </a:solidFill>
                <a:latin typeface="SF Pro Display"/>
              </a:defRPr>
            </a:pPr>
            <a:r>
              <a:t>Independent strategy with unique approach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3291840"/>
            <a:ext cx="137160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329184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Implementation Plan B</a:t>
            </a:r>
          </a:p>
          <a:p>
            <a:pPr>
              <a:spcBef>
                <a:spcPts val="600"/>
              </a:spcBef>
              <a:defRPr sz="1600">
                <a:solidFill>
                  <a:srgbClr val="9E9E9E"/>
                </a:solidFill>
                <a:latin typeface="SF Pro Display"/>
              </a:defRPr>
            </a:pPr>
            <a:r>
              <a:t>Independent strategy with unique approach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4572000"/>
            <a:ext cx="137160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457200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Implementation Plan C</a:t>
            </a:r>
          </a:p>
          <a:p>
            <a:pPr>
              <a:spcBef>
                <a:spcPts val="600"/>
              </a:spcBef>
              <a:defRPr sz="1600">
                <a:solidFill>
                  <a:srgbClr val="9E9E9E"/>
                </a:solidFill>
                <a:latin typeface="SF Pro Display"/>
              </a:defRPr>
            </a:pPr>
            <a:r>
              <a:t>Independent strategy with unique approach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76072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5846A"/>
                </a:solidFill>
                <a:latin typeface="SF Pro Display"/>
              </a:defRPr>
            </a:pPr>
            <a:r>
              <a:t>Parallel execution reduces planning time by 67%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Precise Change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From 50 files to specific modifications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9E9E9E"/>
                </a:solidFill>
                <a:latin typeface="SF Pro Display"/>
              </a:defRPr>
            </a:pPr>
            <a:r>
              <a:t>50 Files Analyzed</a:t>
            </a:r>
          </a:p>
          <a:p>
            <a:pPr algn="ctr">
              <a:spcBef>
                <a:spcPts val="800"/>
              </a:spcBef>
              <a:defRPr sz="4800">
                <a:solidFill>
                  <a:srgbClr val="5FB1BE"/>
                </a:solidFill>
                <a:latin typeface="SF Pro Display"/>
              </a:defRPr>
            </a:pPr>
            <a:r>
              <a:t>↓</a:t>
            </a:r>
          </a:p>
          <a:p>
            <a:pPr algn="ctr">
              <a:spcBef>
                <a:spcPts val="800"/>
              </a:spcBef>
              <a:defRPr sz="2800" b="1">
                <a:solidFill>
                  <a:srgbClr val="5FB1BE"/>
                </a:solidFill>
                <a:latin typeface="SF Pro Display"/>
              </a:defRPr>
            </a:pPr>
            <a:r>
              <a:t>8-10 Files to Modify</a:t>
            </a:r>
          </a:p>
          <a:p>
            <a:pPr algn="ctr">
              <a:spcBef>
                <a:spcPts val="800"/>
              </a:spcBef>
              <a:defRPr sz="4800">
                <a:solidFill>
                  <a:srgbClr val="5FB1BE"/>
                </a:solidFill>
                <a:latin typeface="SF Pro Display"/>
              </a:defRPr>
            </a:pPr>
            <a:r>
              <a:t>↓</a:t>
            </a:r>
          </a:p>
          <a:p>
            <a:pPr algn="ctr">
              <a:spcBef>
                <a:spcPts val="800"/>
              </a:spcBef>
              <a:defRPr sz="2400" b="1">
                <a:solidFill>
                  <a:srgbClr val="55846A"/>
                </a:solidFill>
                <a:latin typeface="SF Pro Display"/>
              </a:defRPr>
            </a:pPr>
            <a:r>
              <a:t>4 Files to Create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5486400"/>
            <a:ext cx="4572000" cy="6400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55846A"/>
                </a:solidFill>
                <a:latin typeface="SF Pro Display"/>
              </a:defRPr>
            </a:pPr>
            <a:r>
              <a:t>94% Precision in Change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Judge Architect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AI-powered plan synthesis and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74720" cy="27432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400" b="1">
                <a:solidFill>
                  <a:srgbClr val="5FB1BE"/>
                </a:solidFill>
                <a:latin typeface="SF Pro Display"/>
              </a:defRPr>
            </a:pPr>
            <a:r>
              <a:t>Input Sources</a:t>
            </a:r>
          </a:p>
          <a:p>
            <a:pPr>
              <a:spcBef>
                <a:spcPts val="1000"/>
              </a:spcBef>
              <a:defRPr sz="1700">
                <a:solidFill>
                  <a:srgbClr val="D1D1D1"/>
                </a:solidFill>
                <a:latin typeface="SF Pro Display"/>
              </a:defRPr>
            </a:pPr>
            <a:r>
              <a:t>•  Selected implementation plans</a:t>
            </a:r>
          </a:p>
          <a:p>
            <a:pPr>
              <a:spcBef>
                <a:spcPts val="1000"/>
              </a:spcBef>
              <a:defRPr sz="1700">
                <a:solidFill>
                  <a:srgbClr val="D1D1D1"/>
                </a:solidFill>
                <a:latin typeface="SF Pro Display"/>
              </a:defRPr>
            </a:pPr>
            <a:r>
              <a:t>•  Mentioned files from plans</a:t>
            </a:r>
          </a:p>
          <a:p>
            <a:pPr>
              <a:spcBef>
                <a:spcPts val="1000"/>
              </a:spcBef>
              <a:defRPr sz="1700">
                <a:solidFill>
                  <a:srgbClr val="D1D1D1"/>
                </a:solidFill>
                <a:latin typeface="SF Pro Display"/>
              </a:defRPr>
            </a:pPr>
            <a:r>
              <a:t>•  Project directory tree</a:t>
            </a:r>
          </a:p>
          <a:p>
            <a:pPr>
              <a:spcBef>
                <a:spcPts val="1000"/>
              </a:spcBef>
              <a:defRPr sz="1700">
                <a:solidFill>
                  <a:srgbClr val="D1D1D1"/>
                </a:solidFill>
                <a:latin typeface="SF Pro Display"/>
              </a:defRPr>
            </a:pPr>
            <a:r>
              <a:t>•  User extra instructions</a:t>
            </a:r>
          </a:p>
          <a:p>
            <a:pPr>
              <a:spcBef>
                <a:spcPts val="1000"/>
              </a:spcBef>
              <a:defRPr sz="1700">
                <a:solidFill>
                  <a:srgbClr val="D1D1D1"/>
                </a:solidFill>
                <a:latin typeface="SF Pro Display"/>
              </a:defRPr>
            </a:pPr>
            <a:r>
              <a:t>•  Dependency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32004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>
                <a:solidFill>
                  <a:srgbClr val="5FB1BE"/>
                </a:solidFill>
                <a:latin typeface="SF Pro Display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286000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5FB1BE"/>
                </a:solidFill>
                <a:latin typeface="SF Pro Display"/>
              </a:defRPr>
            </a:pPr>
            <a:r>
              <a:t>Unified Plan</a:t>
            </a:r>
          </a:p>
          <a:p>
            <a:pPr algn="ctr"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Optimized synthesis</a:t>
            </a:r>
            <a:br/>
            <a:r>
              <a:t>of best approaches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8229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000">
                <a:solidFill>
                  <a:srgbClr val="D1D1D1"/>
                </a:solidFill>
                <a:latin typeface="SF Pro Display"/>
              </a:defRPr>
            </a:pPr>
            <a:r>
              <a:t>Evaluates consistency, completeness, and architectural soundness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Parallel Code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Multiple specialized agents executing simultaneously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Authentication</a:t>
            </a:r>
            <a:br/>
            <a:r>
              <a:t>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01168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UI Components</a:t>
            </a:r>
            <a:br/>
            <a:r>
              <a:t>&amp; Styling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01168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API Endpoints</a:t>
            </a:r>
            <a:br/>
            <a:r>
              <a:t>&amp;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Database</a:t>
            </a:r>
            <a:br/>
            <a:r>
              <a:t>Migrations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65760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Unit Tests</a:t>
            </a:r>
            <a:br/>
            <a:r>
              <a:t>&amp;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65760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Documentation</a:t>
            </a:r>
            <a:br/>
            <a:r>
              <a:t>&amp;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30352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1E2A24"/>
          </a:solidFill>
          <a:ln w="12700">
            <a:solidFill>
              <a:srgbClr val="558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55846A"/>
                </a:solidFill>
                <a:latin typeface="SF Pro Display"/>
              </a:defRPr>
            </a:pPr>
            <a:r>
              <a:t>Complete Feature Implementation</a:t>
            </a:r>
          </a:p>
          <a:p>
            <a:pPr algn="ctr">
              <a:spcBef>
                <a:spcPts val="6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5 minutes average execution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Production-Ready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High-quality code in minutes, not 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55846A"/>
                </a:solidFill>
                <a:latin typeface="SF Pro Display"/>
              </a:defRPr>
            </a:pPr>
            <a:r>
              <a:t>90%+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Completion</a:t>
            </a:r>
            <a:br/>
            <a:r>
              <a:t>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0116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55846A"/>
                </a:solidFill>
                <a:latin typeface="SF Pro Display"/>
              </a:defRPr>
            </a:pPr>
            <a:r>
              <a:t>0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Regression</a:t>
            </a:r>
            <a:br/>
            <a:r>
              <a:t>Bugs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628ABB"/>
                </a:solidFill>
                <a:latin typeface="SF Pro Display"/>
              </a:defRPr>
            </a:pPr>
            <a:r>
              <a:t>&lt; 5%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Compile</a:t>
            </a:r>
            <a:br/>
            <a:r>
              <a:t>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38404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55846A"/>
                </a:solidFill>
                <a:latin typeface="SF Pro Display"/>
              </a:defRPr>
            </a:pPr>
            <a:r>
              <a:t>100%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Type</a:t>
            </a:r>
            <a:br/>
            <a:r>
              <a:t>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577840"/>
            <a:ext cx="6400800" cy="5486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9E9E9E"/>
                </a:solidFill>
                <a:latin typeface="SF Pro Display"/>
              </a:defRPr>
            </a:pPr>
            <a:r>
              <a:t>Minor polish occasionally needed | Maintains code quality standards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Development Workflow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Traditional approach vs. AI-powered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4023360" cy="36576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400" b="1">
                <a:solidFill>
                  <a:srgbClr val="9E9E9E"/>
                </a:solidFill>
                <a:latin typeface="SF Pro Display"/>
              </a:defRPr>
            </a:pPr>
            <a:r>
              <a:t>Traditional Workflow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Hours of manual file hunting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Context overload and fatigue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Higher error rates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Single-threaded execution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2-3 days per feature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Incomplete coverage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2011680"/>
            <a:ext cx="4023360" cy="36576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400" b="1">
                <a:solidFill>
                  <a:srgbClr val="5FB1BE"/>
                </a:solidFill>
                <a:latin typeface="SF Pro Display"/>
              </a:defRPr>
            </a:pPr>
            <a:r>
              <a:t>Vibe Manager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Seconds to identify scope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Precise context isolation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AI-verified accuracy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Parallel multi-agent execution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5 minutes per feature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Complete test coverage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What Sets Us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Core technological advantages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2000" b="1">
                <a:solidFill>
                  <a:srgbClr val="5FB1BE"/>
                </a:solidFill>
                <a:latin typeface="SF Pro Display"/>
              </a:defRPr>
            </a:pPr>
            <a:r>
              <a:t>Intelligent Scope Isolation</a:t>
            </a:r>
          </a:p>
          <a:p>
            <a:pPr>
              <a:spcBef>
                <a:spcPts val="600"/>
              </a:spcBef>
              <a:defRPr sz="1500">
                <a:solidFill>
                  <a:srgbClr val="D1D1D1"/>
                </a:solidFill>
                <a:latin typeface="SF Pro Display"/>
              </a:defRPr>
            </a:pPr>
            <a:r>
              <a:t>Multi-stage reduction from 1,500 to 12 files with 96%+ accuracy through parallel AI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8036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2000" b="1">
                <a:solidFill>
                  <a:srgbClr val="5FB1BE"/>
                </a:solidFill>
                <a:latin typeface="SF Pro Display"/>
              </a:defRPr>
            </a:pPr>
            <a:r>
              <a:t>XML-Powered Precision</a:t>
            </a:r>
          </a:p>
          <a:p>
            <a:pPr>
              <a:spcBef>
                <a:spcPts val="600"/>
              </a:spcBef>
              <a:defRPr sz="1500">
                <a:solidFill>
                  <a:srgbClr val="D1D1D1"/>
                </a:solidFill>
                <a:latin typeface="SF Pro Display"/>
              </a:defRPr>
            </a:pPr>
            <a:r>
              <a:t>Structured communication optimized for LLMs with full parseability and traceability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2000" b="1">
                <a:solidFill>
                  <a:srgbClr val="5FB1BE"/>
                </a:solidFill>
                <a:latin typeface="SF Pro Display"/>
              </a:defRPr>
            </a:pPr>
            <a:r>
              <a:t>Triple Planning Architecture</a:t>
            </a:r>
          </a:p>
          <a:p>
            <a:pPr>
              <a:spcBef>
                <a:spcPts val="600"/>
              </a:spcBef>
              <a:defRPr sz="1500">
                <a:solidFill>
                  <a:srgbClr val="D1D1D1"/>
                </a:solidFill>
                <a:latin typeface="SF Pro Display"/>
              </a:defRPr>
            </a:pPr>
            <a:r>
              <a:t>Three independent implementation strategies merged by Judge Architect for optimal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2000" b="1">
                <a:solidFill>
                  <a:srgbClr val="5FB1BE"/>
                </a:solidFill>
                <a:latin typeface="SF Pro Display"/>
              </a:defRPr>
            </a:pPr>
            <a:r>
              <a:t>Parallel Multi-Agent Execution</a:t>
            </a:r>
          </a:p>
          <a:p>
            <a:pPr>
              <a:spcBef>
                <a:spcPts val="600"/>
              </a:spcBef>
              <a:defRPr sz="1500">
                <a:solidFill>
                  <a:srgbClr val="D1D1D1"/>
                </a:solidFill>
                <a:latin typeface="SF Pro Display"/>
              </a:defRPr>
            </a:pPr>
            <a:r>
              <a:t>Specialized agents working simultaneously across different code domains for 10x speed increase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5E5E5"/>
                </a:solidFill>
                <a:latin typeface="SF Pro Display"/>
              </a:defRPr>
            </a:pPr>
            <a:r>
              <a:t>Transform Your Development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3017520"/>
            <a:ext cx="5486400" cy="10972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5E5E5"/>
                </a:solidFill>
                <a:latin typeface="SF Pro Display"/>
              </a:defRPr>
            </a:pPr>
            <a:r>
              <a:t>1,500 files → 50 files → Production code</a:t>
            </a:r>
          </a:p>
          <a:p>
            <a:pPr algn="ctr">
              <a:spcBef>
                <a:spcPts val="800"/>
              </a:spcBef>
              <a:defRPr sz="2400">
                <a:solidFill>
                  <a:srgbClr val="5FB1BE"/>
                </a:solidFill>
                <a:latin typeface="SF Pro Display"/>
              </a:defRPr>
            </a:pPr>
            <a:r>
              <a:t>In just 5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572000"/>
            <a:ext cx="4572000" cy="10972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5FB1BE"/>
                </a:solidFill>
                <a:latin typeface="SF Pro Display"/>
              </a:defRPr>
            </a:pPr>
            <a:r>
              <a:t>vibemanager.app</a:t>
            </a:r>
          </a:p>
          <a:p>
            <a:pPr algn="ctr">
              <a:spcBef>
                <a:spcPts val="800"/>
              </a:spcBef>
              <a:defRPr sz="2000">
                <a:solidFill>
                  <a:srgbClr val="D1D1D1"/>
                </a:solidFill>
                <a:latin typeface="SF Pro Display"/>
              </a:defRPr>
            </a:pPr>
            <a:r>
              <a:t>hello@vibemanager.app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